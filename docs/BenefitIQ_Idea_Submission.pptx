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7" d="100"/>
          <a:sy n="47" d="100"/>
        </p:scale>
        <p:origin x="1180" y="5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2083" y="3260944"/>
            <a:ext cx="6470476" cy="1879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314" y="4531766"/>
            <a:ext cx="2002536" cy="3479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254" y="4430395"/>
            <a:ext cx="550684" cy="55068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45718" y="4552950"/>
            <a:ext cx="1873885" cy="312420"/>
          </a:xfrm>
          <a:custGeom>
            <a:avLst/>
            <a:gdLst/>
            <a:ahLst/>
            <a:cxnLst/>
            <a:rect l="l" t="t" r="r" b="b"/>
            <a:pathLst>
              <a:path w="1873885" h="312420">
                <a:moveTo>
                  <a:pt x="1873630" y="0"/>
                </a:moveTo>
                <a:lnTo>
                  <a:pt x="0" y="0"/>
                </a:lnTo>
                <a:lnTo>
                  <a:pt x="0" y="312153"/>
                </a:lnTo>
                <a:lnTo>
                  <a:pt x="1873630" y="312153"/>
                </a:lnTo>
                <a:lnTo>
                  <a:pt x="18736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500" y="1153108"/>
            <a:ext cx="167195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2555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2555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0726" y="3930650"/>
            <a:ext cx="4230691" cy="12128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510" y="4568444"/>
            <a:ext cx="350519" cy="3467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270251"/>
            <a:ext cx="277114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42161"/>
            <a:ext cx="5599430" cy="319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2555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94521" y="4787900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ECF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0" y="2304306"/>
            <a:ext cx="556260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0" dirty="0">
                <a:solidFill>
                  <a:srgbClr val="006ECF"/>
                </a:solidFill>
                <a:latin typeface="Calibri"/>
                <a:cs typeface="Calibri"/>
              </a:rPr>
              <a:t>BenefitIQ</a:t>
            </a:r>
            <a:endParaRPr sz="4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000" i="1" dirty="0">
                <a:solidFill>
                  <a:srgbClr val="52555A"/>
                </a:solidFill>
                <a:latin typeface="Calibri"/>
                <a:cs typeface="Calibri"/>
              </a:rPr>
              <a:t>Know</a:t>
            </a:r>
            <a:r>
              <a:rPr sz="1000" i="1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2555A"/>
                </a:solidFill>
                <a:latin typeface="Calibri"/>
                <a:cs typeface="Calibri"/>
              </a:rPr>
              <a:t>Every</a:t>
            </a:r>
            <a:r>
              <a:rPr sz="1000" i="1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2555A"/>
                </a:solidFill>
                <a:latin typeface="Calibri"/>
                <a:cs typeface="Calibri"/>
              </a:rPr>
              <a:t>Reward.</a:t>
            </a:r>
            <a:r>
              <a:rPr sz="1000" i="1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52555A"/>
                </a:solidFill>
                <a:latin typeface="Calibri"/>
                <a:cs typeface="Calibri"/>
              </a:rPr>
              <a:t>Miss</a:t>
            </a:r>
            <a:r>
              <a:rPr sz="1000" i="1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000" i="1" spc="-20" dirty="0">
                <a:solidFill>
                  <a:srgbClr val="52555A"/>
                </a:solidFill>
                <a:latin typeface="Calibri"/>
                <a:cs typeface="Calibri"/>
              </a:rPr>
              <a:t>None.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428" y="1441830"/>
            <a:ext cx="1092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06ECF"/>
                </a:solidFill>
                <a:latin typeface="Calibri"/>
                <a:cs typeface="Calibri"/>
              </a:rPr>
              <a:t>Team</a:t>
            </a:r>
            <a:r>
              <a:rPr sz="1200" b="1" spc="-50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ECF"/>
                </a:solidFill>
                <a:latin typeface="Calibri"/>
                <a:cs typeface="Calibri"/>
              </a:rPr>
              <a:t>Members:-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6ECF"/>
                </a:solidFill>
                <a:latin typeface="Calibri"/>
                <a:cs typeface="Calibri"/>
              </a:rPr>
              <a:t>M.M.</a:t>
            </a:r>
            <a:r>
              <a:rPr sz="1200" spc="-20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ECF"/>
                </a:solidFill>
                <a:latin typeface="Calibri"/>
                <a:cs typeface="Calibri"/>
              </a:rPr>
              <a:t>Navadeep</a:t>
            </a:r>
            <a:br>
              <a:rPr lang="en-US" sz="1200" spc="-10" dirty="0">
                <a:solidFill>
                  <a:srgbClr val="006ECF"/>
                </a:solidFill>
                <a:latin typeface="Calibri"/>
                <a:cs typeface="Calibri"/>
              </a:rPr>
            </a:br>
            <a:r>
              <a:rPr lang="en-US" sz="1200" spc="-10" dirty="0">
                <a:solidFill>
                  <a:srgbClr val="006ECF"/>
                </a:solidFill>
                <a:latin typeface="Calibri"/>
                <a:cs typeface="Calibri"/>
              </a:rPr>
              <a:t>M. Haritha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8800" y="388365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6350">
            <a:solidFill>
              <a:srgbClr val="5255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800" y="1146175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6350">
            <a:solidFill>
              <a:srgbClr val="5255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07794" y="395732"/>
            <a:ext cx="30130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60" dirty="0">
                <a:latin typeface="Calibri"/>
                <a:cs typeface="Calibri"/>
              </a:rPr>
              <a:t>Team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Name:</a:t>
            </a:r>
            <a:r>
              <a:rPr sz="3200" b="0" spc="-55" dirty="0">
                <a:latin typeface="Calibri"/>
                <a:cs typeface="Calibri"/>
              </a:rPr>
              <a:t> </a:t>
            </a:r>
            <a:r>
              <a:rPr lang="en-US" sz="3200" b="0" spc="-25" dirty="0"/>
              <a:t>I</a:t>
            </a:r>
            <a:r>
              <a:rPr sz="3200" b="0" spc="-25" dirty="0">
                <a:latin typeface="Calibri"/>
                <a:cs typeface="Calibri"/>
              </a:rPr>
              <a:t>DK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4723129"/>
            <a:ext cx="3657600" cy="287020"/>
          </a:xfrm>
          <a:custGeom>
            <a:avLst/>
            <a:gdLst/>
            <a:ahLst/>
            <a:cxnLst/>
            <a:rect l="l" t="t" r="r" b="b"/>
            <a:pathLst>
              <a:path w="3657600" h="287020">
                <a:moveTo>
                  <a:pt x="3657600" y="0"/>
                </a:moveTo>
                <a:lnTo>
                  <a:pt x="0" y="0"/>
                </a:lnTo>
                <a:lnTo>
                  <a:pt x="0" y="287020"/>
                </a:lnTo>
                <a:lnTo>
                  <a:pt x="3657600" y="28702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133350"/>
            <a:ext cx="9163334" cy="5276850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4759248"/>
            <a:ext cx="3564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r>
              <a:rPr sz="500" spc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97645" y="474980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6EC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3348"/>
            <a:ext cx="9144000" cy="4953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64412" y="4753533"/>
            <a:ext cx="3627120" cy="287020"/>
            <a:chOff x="964412" y="4753533"/>
            <a:chExt cx="3627120" cy="287020"/>
          </a:xfrm>
        </p:grpSpPr>
        <p:sp>
          <p:nvSpPr>
            <p:cNvPr id="4" name="object 4"/>
            <p:cNvSpPr/>
            <p:nvPr/>
          </p:nvSpPr>
          <p:spPr>
            <a:xfrm>
              <a:off x="970762" y="4759890"/>
              <a:ext cx="3613785" cy="274320"/>
            </a:xfrm>
            <a:custGeom>
              <a:avLst/>
              <a:gdLst/>
              <a:ahLst/>
              <a:cxnLst/>
              <a:rect l="l" t="t" r="r" b="b"/>
              <a:pathLst>
                <a:path w="3613785" h="274320">
                  <a:moveTo>
                    <a:pt x="3613785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3613785" y="274320"/>
                  </a:lnTo>
                  <a:lnTo>
                    <a:pt x="3613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64412" y="4753533"/>
              <a:ext cx="3627120" cy="287020"/>
            </a:xfrm>
            <a:custGeom>
              <a:avLst/>
              <a:gdLst/>
              <a:ahLst/>
              <a:cxnLst/>
              <a:rect l="l" t="t" r="r" b="b"/>
              <a:pathLst>
                <a:path w="3627120" h="287020">
                  <a:moveTo>
                    <a:pt x="6350" y="0"/>
                  </a:moveTo>
                  <a:lnTo>
                    <a:pt x="6350" y="287026"/>
                  </a:lnTo>
                </a:path>
                <a:path w="3627120" h="287020">
                  <a:moveTo>
                    <a:pt x="3620160" y="0"/>
                  </a:moveTo>
                  <a:lnTo>
                    <a:pt x="3620160" y="287026"/>
                  </a:lnTo>
                </a:path>
                <a:path w="3627120" h="287020">
                  <a:moveTo>
                    <a:pt x="0" y="6350"/>
                  </a:moveTo>
                  <a:lnTo>
                    <a:pt x="3626510" y="6350"/>
                  </a:lnTo>
                </a:path>
                <a:path w="3627120" h="287020">
                  <a:moveTo>
                    <a:pt x="0" y="280676"/>
                  </a:moveTo>
                  <a:lnTo>
                    <a:pt x="3626510" y="280676"/>
                  </a:lnTo>
                </a:path>
              </a:pathLst>
            </a:custGeom>
            <a:ln w="12700">
              <a:solidFill>
                <a:srgbClr val="5255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" y="0"/>
            <a:ext cx="9139173" cy="51434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501" y="4734839"/>
            <a:ext cx="3639185" cy="274320"/>
          </a:xfrm>
          <a:custGeom>
            <a:avLst/>
            <a:gdLst/>
            <a:ahLst/>
            <a:cxnLst/>
            <a:rect l="l" t="t" r="r" b="b"/>
            <a:pathLst>
              <a:path w="3639185" h="274320">
                <a:moveTo>
                  <a:pt x="3638804" y="0"/>
                </a:moveTo>
                <a:lnTo>
                  <a:pt x="0" y="0"/>
                </a:lnTo>
                <a:lnTo>
                  <a:pt x="0" y="274320"/>
                </a:lnTo>
                <a:lnTo>
                  <a:pt x="3638804" y="274320"/>
                </a:lnTo>
                <a:lnTo>
                  <a:pt x="3638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342646"/>
            <a:ext cx="157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Our</a:t>
            </a:r>
            <a:r>
              <a:rPr spc="-85" dirty="0"/>
              <a:t> </a:t>
            </a:r>
            <a:r>
              <a:rPr spc="-30" dirty="0"/>
              <a:t>Solution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444500" y="539411"/>
            <a:ext cx="8108950" cy="334391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spc="-50" dirty="0">
                <a:solidFill>
                  <a:srgbClr val="006ECF"/>
                </a:solidFill>
                <a:latin typeface="Calibri"/>
                <a:cs typeface="Calibri"/>
              </a:rPr>
              <a:t>BenefitIQ</a:t>
            </a:r>
            <a:r>
              <a:rPr sz="2000" spc="-8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ECF"/>
                </a:solidFill>
                <a:latin typeface="Calibri"/>
                <a:cs typeface="Calibri"/>
              </a:rPr>
              <a:t>-</a:t>
            </a:r>
            <a:r>
              <a:rPr sz="2000" spc="-4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EC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6ECF"/>
                </a:solidFill>
                <a:latin typeface="Calibri"/>
                <a:cs typeface="Calibri"/>
              </a:rPr>
              <a:t>Continuous</a:t>
            </a:r>
            <a:r>
              <a:rPr sz="2000" spc="-8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006ECF"/>
                </a:solidFill>
                <a:latin typeface="Calibri"/>
                <a:cs typeface="Calibri"/>
              </a:rPr>
              <a:t>Benefit</a:t>
            </a:r>
            <a:r>
              <a:rPr sz="2000" spc="-6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6ECF"/>
                </a:solidFill>
                <a:latin typeface="Calibri"/>
                <a:cs typeface="Calibri"/>
              </a:rPr>
              <a:t>Intelligence</a:t>
            </a:r>
            <a:r>
              <a:rPr sz="2000" spc="-8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006ECF"/>
                </a:solidFill>
                <a:latin typeface="Calibri"/>
                <a:cs typeface="Calibri"/>
              </a:rPr>
              <a:t>Platform</a:t>
            </a:r>
            <a:r>
              <a:rPr sz="2000" spc="-60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006EC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006ECF"/>
                </a:solidFill>
                <a:latin typeface="Calibri"/>
                <a:cs typeface="Calibri"/>
              </a:rPr>
              <a:t>Modern</a:t>
            </a:r>
            <a:r>
              <a:rPr sz="2000" spc="-80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006ECF"/>
                </a:solidFill>
                <a:latin typeface="Calibri"/>
                <a:cs typeface="Calibri"/>
              </a:rPr>
              <a:t>Card</a:t>
            </a:r>
            <a:r>
              <a:rPr sz="2000" spc="-6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6ECF"/>
                </a:solidFill>
                <a:latin typeface="Calibri"/>
                <a:cs typeface="Calibri"/>
              </a:rPr>
              <a:t>Issuers</a:t>
            </a:r>
            <a:endParaRPr sz="2000">
              <a:latin typeface="Calibri"/>
              <a:cs typeface="Calibri"/>
            </a:endParaRPr>
          </a:p>
          <a:p>
            <a:pPr marL="85090" marR="508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BenefitIQ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is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continuous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intelligence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platform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enabling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card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issuers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identify unrealized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value,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quantify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it,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personalize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engagement,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continuously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measure</a:t>
            </a:r>
            <a:r>
              <a:rPr sz="1800" spc="-7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business</a:t>
            </a:r>
            <a:r>
              <a:rPr sz="1800" spc="-7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impact.</a:t>
            </a:r>
            <a:endParaRPr sz="1800">
              <a:latin typeface="Calibri"/>
              <a:cs typeface="Calibri"/>
            </a:endParaRPr>
          </a:p>
          <a:p>
            <a:pPr marL="250190" indent="-165100">
              <a:lnSpc>
                <a:spcPct val="100000"/>
              </a:lnSpc>
              <a:spcBef>
                <a:spcPts val="2160"/>
              </a:spcBef>
              <a:buChar char="•"/>
              <a:tabLst>
                <a:tab pos="25019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Maps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transactions</a:t>
            </a:r>
            <a:r>
              <a:rPr sz="1800" spc="-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benefits</a:t>
            </a:r>
            <a:endParaRPr sz="1800">
              <a:latin typeface="Calibri"/>
              <a:cs typeface="Calibri"/>
            </a:endParaRPr>
          </a:p>
          <a:p>
            <a:pPr marL="251460" indent="-166370">
              <a:lnSpc>
                <a:spcPct val="100000"/>
              </a:lnSpc>
              <a:buChar char="•"/>
              <a:tabLst>
                <a:tab pos="25146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Quantifies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unrealized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250190" indent="-165100">
              <a:lnSpc>
                <a:spcPct val="100000"/>
              </a:lnSpc>
              <a:spcBef>
                <a:spcPts val="5"/>
              </a:spcBef>
              <a:buChar char="•"/>
              <a:tabLst>
                <a:tab pos="250190" algn="l"/>
              </a:tabLst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Personalized</a:t>
            </a:r>
            <a:r>
              <a:rPr sz="1800" spc="-7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recommendations</a:t>
            </a:r>
            <a:endParaRPr sz="1800">
              <a:latin typeface="Calibri"/>
              <a:cs typeface="Calibri"/>
            </a:endParaRPr>
          </a:p>
          <a:p>
            <a:pPr marL="250190" indent="-165100">
              <a:lnSpc>
                <a:spcPct val="100000"/>
              </a:lnSpc>
              <a:buChar char="•"/>
              <a:tabLst>
                <a:tab pos="25019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Continuous</a:t>
            </a:r>
            <a:r>
              <a:rPr sz="1800" spc="-1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optimization</a:t>
            </a:r>
            <a:endParaRPr sz="180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2160"/>
              </a:spcBef>
            </a:pP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Transforming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Analytics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into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Continuous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Customer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Value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our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main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goal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501" y="4753626"/>
            <a:ext cx="3632835" cy="274320"/>
          </a:xfrm>
          <a:custGeom>
            <a:avLst/>
            <a:gdLst/>
            <a:ahLst/>
            <a:cxnLst/>
            <a:rect l="l" t="t" r="r" b="b"/>
            <a:pathLst>
              <a:path w="3632835" h="274320">
                <a:moveTo>
                  <a:pt x="3632580" y="0"/>
                </a:moveTo>
                <a:lnTo>
                  <a:pt x="0" y="0"/>
                </a:lnTo>
                <a:lnTo>
                  <a:pt x="0" y="274320"/>
                </a:lnTo>
                <a:lnTo>
                  <a:pt x="3632580" y="274320"/>
                </a:lnTo>
                <a:lnTo>
                  <a:pt x="36325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342646"/>
            <a:ext cx="6587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40" dirty="0">
                <a:latin typeface="Calibri"/>
                <a:cs typeface="Calibri"/>
              </a:rPr>
              <a:t>From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Static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Analytics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35" dirty="0">
                <a:latin typeface="Calibri"/>
                <a:cs typeface="Calibri"/>
              </a:rPr>
              <a:t>to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Continuous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45" dirty="0">
                <a:latin typeface="Calibri"/>
                <a:cs typeface="Calibri"/>
              </a:rPr>
              <a:t>Benefit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Intelligence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1238" y="995298"/>
            <a:ext cx="791781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TODAY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Transactions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Reports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Manual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Campaigns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Low</a:t>
            </a:r>
            <a:r>
              <a:rPr sz="1800" spc="-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Utilization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BENEFITIQ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Transactions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Intelligence</a:t>
            </a:r>
            <a:r>
              <a:rPr sz="1800" spc="-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Personalized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Decisions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Continuous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Higher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Utilization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Vision</a:t>
            </a:r>
            <a:endParaRPr sz="1800">
              <a:latin typeface="Calibri"/>
              <a:cs typeface="Calibri"/>
            </a:endParaRPr>
          </a:p>
          <a:p>
            <a:pPr marL="12700" marR="10248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Create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continuously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learning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platform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maximizes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benefit</a:t>
            </a:r>
            <a:r>
              <a:rPr sz="1800" spc="-4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utilization.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Every</a:t>
            </a:r>
            <a:r>
              <a:rPr sz="1800" spc="-5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interaction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improves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next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recommendation.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" y="0"/>
            <a:ext cx="9139173" cy="51434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7023" y="4741100"/>
            <a:ext cx="3645535" cy="274320"/>
          </a:xfrm>
          <a:custGeom>
            <a:avLst/>
            <a:gdLst/>
            <a:ahLst/>
            <a:cxnLst/>
            <a:rect l="l" t="t" r="r" b="b"/>
            <a:pathLst>
              <a:path w="3645535" h="274320">
                <a:moveTo>
                  <a:pt x="3645027" y="0"/>
                </a:moveTo>
                <a:lnTo>
                  <a:pt x="0" y="0"/>
                </a:lnTo>
                <a:lnTo>
                  <a:pt x="0" y="274320"/>
                </a:lnTo>
                <a:lnTo>
                  <a:pt x="3645027" y="274320"/>
                </a:lnTo>
                <a:lnTo>
                  <a:pt x="36450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342646"/>
            <a:ext cx="189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0" dirty="0">
                <a:latin typeface="Calibri"/>
                <a:cs typeface="Calibri"/>
              </a:rPr>
              <a:t>Core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35" dirty="0">
                <a:latin typeface="Calibri"/>
                <a:cs typeface="Calibri"/>
              </a:rPr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IDENTIFY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Understand</a:t>
            </a:r>
            <a:r>
              <a:rPr spc="-20" dirty="0"/>
              <a:t> </a:t>
            </a:r>
            <a:r>
              <a:rPr dirty="0"/>
              <a:t>eligible</a:t>
            </a:r>
            <a:r>
              <a:rPr spc="-40" dirty="0"/>
              <a:t> </a:t>
            </a:r>
            <a:r>
              <a:rPr spc="-10" dirty="0"/>
              <a:t>benefits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pc="-10" dirty="0"/>
              <a:t>QUANTIFY</a:t>
            </a:r>
          </a:p>
          <a:p>
            <a:pPr marL="12700">
              <a:lnSpc>
                <a:spcPct val="100000"/>
              </a:lnSpc>
            </a:pPr>
            <a:r>
              <a:rPr dirty="0"/>
              <a:t>Calculate</a:t>
            </a:r>
            <a:r>
              <a:rPr spc="-55" dirty="0"/>
              <a:t> </a:t>
            </a:r>
            <a:r>
              <a:rPr spc="-10" dirty="0"/>
              <a:t>unrealized</a:t>
            </a:r>
            <a:r>
              <a:rPr spc="-20" dirty="0"/>
              <a:t> value</a:t>
            </a: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pc="-10" dirty="0"/>
              <a:t>ENGAGE</a:t>
            </a:r>
          </a:p>
          <a:p>
            <a:pPr marL="12700">
              <a:lnSpc>
                <a:spcPct val="100000"/>
              </a:lnSpc>
            </a:pPr>
            <a:r>
              <a:rPr dirty="0"/>
              <a:t>Provide</a:t>
            </a:r>
            <a:r>
              <a:rPr spc="-40" dirty="0"/>
              <a:t> </a:t>
            </a:r>
            <a:r>
              <a:rPr spc="-10" dirty="0"/>
              <a:t>personalized</a:t>
            </a:r>
            <a:r>
              <a:rPr spc="-50" dirty="0"/>
              <a:t> </a:t>
            </a:r>
            <a:r>
              <a:rPr spc="-10" dirty="0"/>
              <a:t>recommendations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pc="-10" dirty="0"/>
              <a:t>MEASURE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Continuously</a:t>
            </a:r>
            <a:r>
              <a:rPr spc="-45" dirty="0"/>
              <a:t> </a:t>
            </a:r>
            <a:r>
              <a:rPr spc="-10" dirty="0"/>
              <a:t>optimize</a:t>
            </a:r>
            <a:r>
              <a:rPr spc="-20" dirty="0"/>
              <a:t> </a:t>
            </a:r>
            <a:r>
              <a:rPr dirty="0"/>
              <a:t>future</a:t>
            </a:r>
            <a:r>
              <a:rPr spc="-20" dirty="0"/>
              <a:t> </a:t>
            </a:r>
            <a:r>
              <a:rPr spc="-10" dirty="0"/>
              <a:t>actions</a:t>
            </a: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/>
              <a:t>These</a:t>
            </a:r>
            <a:r>
              <a:rPr spc="-50" dirty="0"/>
              <a:t> </a:t>
            </a:r>
            <a:r>
              <a:rPr dirty="0"/>
              <a:t>objectives</a:t>
            </a:r>
            <a:r>
              <a:rPr spc="-35" dirty="0"/>
              <a:t> </a:t>
            </a:r>
            <a:r>
              <a:rPr dirty="0"/>
              <a:t>directly</a:t>
            </a:r>
            <a:r>
              <a:rPr spc="-45" dirty="0"/>
              <a:t> </a:t>
            </a:r>
            <a:r>
              <a:rPr dirty="0"/>
              <a:t>map</a:t>
            </a:r>
            <a:r>
              <a:rPr spc="-6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hackathon</a:t>
            </a:r>
            <a:r>
              <a:rPr spc="-55" dirty="0"/>
              <a:t> </a:t>
            </a:r>
            <a:r>
              <a:rPr dirty="0"/>
              <a:t>problem</a:t>
            </a:r>
            <a:r>
              <a:rPr spc="-45" dirty="0"/>
              <a:t> </a:t>
            </a:r>
            <a:r>
              <a:rPr spc="-10" dirty="0"/>
              <a:t>statement.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" y="0"/>
            <a:ext cx="9139173" cy="51434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4501" y="4766152"/>
            <a:ext cx="3651885" cy="274320"/>
          </a:xfrm>
          <a:custGeom>
            <a:avLst/>
            <a:gdLst/>
            <a:ahLst/>
            <a:cxnLst/>
            <a:rect l="l" t="t" r="r" b="b"/>
            <a:pathLst>
              <a:path w="3651885" h="274320">
                <a:moveTo>
                  <a:pt x="3651377" y="0"/>
                </a:moveTo>
                <a:lnTo>
                  <a:pt x="0" y="0"/>
                </a:lnTo>
                <a:lnTo>
                  <a:pt x="0" y="274320"/>
                </a:lnTo>
                <a:lnTo>
                  <a:pt x="3651377" y="274320"/>
                </a:lnTo>
                <a:lnTo>
                  <a:pt x="36513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342646"/>
            <a:ext cx="3451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60" dirty="0">
                <a:latin typeface="Calibri"/>
                <a:cs typeface="Calibri"/>
              </a:rPr>
              <a:t>Why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BenefitIQ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55" dirty="0">
                <a:latin typeface="Calibri"/>
                <a:cs typeface="Calibri"/>
              </a:rPr>
              <a:t>Creates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Value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3735" y="1001395"/>
            <a:ext cx="20643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Card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Issuer</a:t>
            </a:r>
            <a:endParaRPr sz="1800">
              <a:latin typeface="Calibri"/>
              <a:cs typeface="Calibri"/>
            </a:endParaRPr>
          </a:p>
          <a:p>
            <a:pPr marL="179070" indent="-166370">
              <a:lnSpc>
                <a:spcPct val="100000"/>
              </a:lnSpc>
              <a:buChar char="•"/>
              <a:tabLst>
                <a:tab pos="17907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Quantify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Improve</a:t>
            </a:r>
            <a:r>
              <a:rPr sz="1800" spc="-9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ROI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Optimize</a:t>
            </a:r>
            <a:r>
              <a:rPr sz="1800" spc="-8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campaigns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Increase</a:t>
            </a:r>
            <a:r>
              <a:rPr sz="1800" spc="-9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retention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8709" y="1001395"/>
            <a:ext cx="27076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Card</a:t>
            </a:r>
            <a:r>
              <a:rPr sz="1800" spc="-5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Member</a:t>
            </a:r>
            <a:endParaRPr sz="1800">
              <a:latin typeface="Calibri"/>
              <a:cs typeface="Calibri"/>
            </a:endParaRPr>
          </a:p>
          <a:p>
            <a:pPr marL="222885" indent="-166370">
              <a:lnSpc>
                <a:spcPct val="100000"/>
              </a:lnSpc>
              <a:buChar char="•"/>
              <a:tabLst>
                <a:tab pos="222885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Discover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hidden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benefits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buChar char="•"/>
              <a:tabLst>
                <a:tab pos="177800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Maximize</a:t>
            </a:r>
            <a:r>
              <a:rPr sz="1800" spc="-7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annual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fee</a:t>
            </a:r>
            <a:r>
              <a:rPr sz="1800" spc="-6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530860" lvl="1" indent="-167005">
              <a:lnSpc>
                <a:spcPct val="100000"/>
              </a:lnSpc>
              <a:buChar char="•"/>
              <a:tabLst>
                <a:tab pos="530860" algn="l"/>
              </a:tabLst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Personalized</a:t>
            </a:r>
            <a:r>
              <a:rPr sz="1800" spc="-8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reminders</a:t>
            </a:r>
            <a:endParaRPr sz="1800">
              <a:latin typeface="Calibri"/>
              <a:cs typeface="Calibri"/>
            </a:endParaRPr>
          </a:p>
          <a:p>
            <a:pPr marL="353695" indent="-165100">
              <a:lnSpc>
                <a:spcPct val="100000"/>
              </a:lnSpc>
              <a:buChar char="•"/>
              <a:tabLst>
                <a:tab pos="353695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Better</a:t>
            </a:r>
            <a:r>
              <a:rPr sz="1800" spc="-9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satisfaction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735" y="2372944"/>
            <a:ext cx="790257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100"/>
              </a:spcBef>
              <a:buChar char="•"/>
              <a:tabLst>
                <a:tab pos="179070" algn="l"/>
                <a:tab pos="2522855" algn="l"/>
              </a:tabLst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Measure</a:t>
            </a:r>
            <a:r>
              <a:rPr sz="1800" spc="-6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effectiveness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	•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Higher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utilization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Outcome: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Higher</a:t>
            </a:r>
            <a:r>
              <a:rPr sz="1800" spc="-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Utilization</a:t>
            </a:r>
            <a:r>
              <a:rPr sz="18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Higher</a:t>
            </a:r>
            <a:r>
              <a:rPr sz="18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Satisfaction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Higher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 Retention</a:t>
            </a:r>
            <a:r>
              <a:rPr sz="1800" spc="-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Better</a:t>
            </a:r>
            <a:r>
              <a:rPr sz="18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ROI</a:t>
            </a:r>
            <a:r>
              <a:rPr sz="18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52555A"/>
                </a:solidFill>
                <a:latin typeface="Calibri"/>
                <a:cs typeface="Calibri"/>
              </a:rPr>
              <a:t>→</a:t>
            </a:r>
            <a:r>
              <a:rPr sz="18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52555A"/>
                </a:solidFill>
                <a:latin typeface="Calibri"/>
                <a:cs typeface="Calibri"/>
              </a:rPr>
              <a:t>Smarter Investments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9" y="0"/>
            <a:ext cx="9139173" cy="51434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533" y="167830"/>
            <a:ext cx="7162800" cy="44182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3444" y="4775250"/>
            <a:ext cx="356489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0"/>
            <a:ext cx="7429500" cy="4953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3444" y="4775250"/>
            <a:ext cx="356489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Card</a:t>
            </a:r>
            <a:r>
              <a:rPr spc="-85" dirty="0"/>
              <a:t> </a:t>
            </a:r>
            <a:r>
              <a:rPr spc="-35" dirty="0"/>
              <a:t>User</a:t>
            </a:r>
            <a:r>
              <a:rPr spc="-90" dirty="0"/>
              <a:t> </a:t>
            </a:r>
            <a:r>
              <a:rPr spc="-25" dirty="0"/>
              <a:t>Dashboard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61162"/>
            <a:ext cx="4352544" cy="484898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4400" y="4723129"/>
            <a:ext cx="3657600" cy="287020"/>
          </a:xfrm>
          <a:custGeom>
            <a:avLst/>
            <a:gdLst/>
            <a:ahLst/>
            <a:cxnLst/>
            <a:rect l="l" t="t" r="r" b="b"/>
            <a:pathLst>
              <a:path w="3657600" h="287020">
                <a:moveTo>
                  <a:pt x="3657600" y="0"/>
                </a:moveTo>
                <a:lnTo>
                  <a:pt x="0" y="0"/>
                </a:lnTo>
                <a:lnTo>
                  <a:pt x="0" y="287020"/>
                </a:lnTo>
                <a:lnTo>
                  <a:pt x="3657600" y="28702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Card</a:t>
            </a:r>
            <a:r>
              <a:rPr spc="-95" dirty="0"/>
              <a:t> </a:t>
            </a:r>
            <a:r>
              <a:rPr spc="-40" dirty="0"/>
              <a:t>Issuer</a:t>
            </a:r>
            <a:r>
              <a:rPr spc="-90" dirty="0"/>
              <a:t> </a:t>
            </a:r>
            <a:r>
              <a:rPr spc="-30" dirty="0"/>
              <a:t>Dashboard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4551" y="156883"/>
            <a:ext cx="4075049" cy="482968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4400" y="4723129"/>
            <a:ext cx="3657600" cy="287020"/>
          </a:xfrm>
          <a:custGeom>
            <a:avLst/>
            <a:gdLst/>
            <a:ahLst/>
            <a:cxnLst/>
            <a:rect l="l" t="t" r="r" b="b"/>
            <a:pathLst>
              <a:path w="3657600" h="287020">
                <a:moveTo>
                  <a:pt x="3657600" y="0"/>
                </a:moveTo>
                <a:lnTo>
                  <a:pt x="0" y="0"/>
                </a:lnTo>
                <a:lnTo>
                  <a:pt x="0" y="287020"/>
                </a:lnTo>
                <a:lnTo>
                  <a:pt x="3657600" y="28702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Card</a:t>
            </a:r>
            <a:r>
              <a:rPr spc="-95" dirty="0"/>
              <a:t> </a:t>
            </a:r>
            <a:r>
              <a:rPr spc="-40" dirty="0"/>
              <a:t>Issuer</a:t>
            </a:r>
            <a:r>
              <a:rPr spc="-90" dirty="0"/>
              <a:t> </a:t>
            </a:r>
            <a:r>
              <a:rPr spc="-30" dirty="0"/>
              <a:t>Dashboard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4551" y="156883"/>
            <a:ext cx="4075049" cy="482968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4400" y="4723129"/>
            <a:ext cx="3657600" cy="287020"/>
          </a:xfrm>
          <a:custGeom>
            <a:avLst/>
            <a:gdLst/>
            <a:ahLst/>
            <a:cxnLst/>
            <a:rect l="l" t="t" r="r" b="b"/>
            <a:pathLst>
              <a:path w="3657600" h="287020">
                <a:moveTo>
                  <a:pt x="3657600" y="0"/>
                </a:moveTo>
                <a:lnTo>
                  <a:pt x="0" y="0"/>
                </a:lnTo>
                <a:lnTo>
                  <a:pt x="0" y="287020"/>
                </a:lnTo>
                <a:lnTo>
                  <a:pt x="3657600" y="28702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144" y="4787950"/>
            <a:ext cx="353949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This material</a:t>
            </a:r>
            <a:r>
              <a:rPr sz="500" spc="-3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contains information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that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is proprietary</a:t>
            </a:r>
            <a:r>
              <a:rPr sz="500" spc="-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and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confidential</a:t>
            </a:r>
            <a:r>
              <a:rPr sz="500" spc="-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Express.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It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cannot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with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third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parties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without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-2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Express’</a:t>
            </a:r>
            <a:r>
              <a:rPr sz="500" spc="4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written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consent.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AMERICAN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EXPRESS</a:t>
            </a:r>
            <a:r>
              <a:rPr sz="500" spc="10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PROPRIETARY</a:t>
            </a:r>
            <a:r>
              <a:rPr sz="500" spc="-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&amp;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CONFIDENTIAL.</a:t>
            </a:r>
            <a:r>
              <a:rPr sz="500" spc="-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3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COPY.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DO</a:t>
            </a:r>
            <a:r>
              <a:rPr sz="500" spc="1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52555A"/>
                </a:solidFill>
                <a:latin typeface="Calibri"/>
                <a:cs typeface="Calibri"/>
              </a:rPr>
              <a:t>NOT</a:t>
            </a:r>
            <a:r>
              <a:rPr sz="500" spc="25" dirty="0">
                <a:solidFill>
                  <a:srgbClr val="52555A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52555A"/>
                </a:solidFill>
                <a:latin typeface="Calibri"/>
                <a:cs typeface="Calibri"/>
              </a:rPr>
              <a:t>DISTRIBUTE.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4723129"/>
            <a:ext cx="3657600" cy="287020"/>
          </a:xfrm>
          <a:custGeom>
            <a:avLst/>
            <a:gdLst/>
            <a:ahLst/>
            <a:cxnLst/>
            <a:rect l="l" t="t" r="r" b="b"/>
            <a:pathLst>
              <a:path w="3657600" h="287020">
                <a:moveTo>
                  <a:pt x="3657600" y="0"/>
                </a:moveTo>
                <a:lnTo>
                  <a:pt x="0" y="0"/>
                </a:lnTo>
                <a:lnTo>
                  <a:pt x="0" y="287020"/>
                </a:lnTo>
                <a:lnTo>
                  <a:pt x="3657600" y="28702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3" y="0"/>
            <a:ext cx="9132316" cy="5143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65" dirty="0">
                <a:latin typeface="Calibri"/>
                <a:cs typeface="Calibri"/>
              </a:rPr>
              <a:t>Thank</a:t>
            </a:r>
            <a:r>
              <a:rPr sz="3200" b="0" spc="-105" dirty="0">
                <a:latin typeface="Calibri"/>
                <a:cs typeface="Calibri"/>
              </a:rPr>
              <a:t> </a:t>
            </a:r>
            <a:r>
              <a:rPr sz="3200" b="0" spc="-25" dirty="0">
                <a:latin typeface="Calibri"/>
                <a:cs typeface="Calibri"/>
              </a:rPr>
              <a:t>you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894458"/>
            <a:ext cx="92710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6ECF"/>
                </a:solidFill>
                <a:latin typeface="Calibri"/>
                <a:cs typeface="Calibri"/>
              </a:rPr>
              <a:t>Team</a:t>
            </a:r>
            <a:r>
              <a:rPr sz="1000" b="1" spc="-4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06ECF"/>
                </a:solidFill>
                <a:latin typeface="Calibri"/>
                <a:cs typeface="Calibri"/>
              </a:rPr>
              <a:t>Members:-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06ECF"/>
                </a:solidFill>
                <a:latin typeface="Calibri"/>
                <a:cs typeface="Calibri"/>
              </a:rPr>
              <a:t>M.M.</a:t>
            </a:r>
            <a:r>
              <a:rPr sz="1000" spc="-25" dirty="0">
                <a:solidFill>
                  <a:srgbClr val="006EC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6ECF"/>
                </a:solidFill>
                <a:latin typeface="Calibri"/>
                <a:cs typeface="Calibri"/>
              </a:rPr>
              <a:t>Navadeep</a:t>
            </a:r>
            <a:endParaRPr lang="en-US" sz="1000" spc="-10" dirty="0">
              <a:solidFill>
                <a:srgbClr val="006EC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000" spc="-10" dirty="0">
                <a:solidFill>
                  <a:srgbClr val="006ECF"/>
                </a:solidFill>
                <a:latin typeface="Calibri"/>
                <a:cs typeface="Calibri"/>
              </a:rPr>
              <a:t>M. Haritha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783</Words>
  <Application>Microsoft Office PowerPoint</Application>
  <PresentationFormat>On-screen Show (16:9)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Team Name: IDK</vt:lpstr>
      <vt:lpstr>PowerPoint Presentation</vt:lpstr>
      <vt:lpstr>PowerPoint Presentation</vt:lpstr>
      <vt:lpstr>PowerPoint Presentation</vt:lpstr>
      <vt:lpstr>Our Solution</vt:lpstr>
      <vt:lpstr>From Static Analytics to Continuous Benefit Intelligence</vt:lpstr>
      <vt:lpstr>Core Objectives</vt:lpstr>
      <vt:lpstr>Why BenefitIQ Creates Value</vt:lpstr>
      <vt:lpstr>PowerPoint Presentation</vt:lpstr>
      <vt:lpstr>PowerPoint Presentation</vt:lpstr>
      <vt:lpstr>Card User Dashboard</vt:lpstr>
      <vt:lpstr>Card Issuer Dashboard</vt:lpstr>
      <vt:lpstr>Card Issuer Dashboard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American Express PowerPoint template</dc:title>
  <dc:creator>Microsoft Office User</dc:creator>
  <cp:lastModifiedBy>Navadeep Marella</cp:lastModifiedBy>
  <cp:revision>1</cp:revision>
  <dcterms:created xsi:type="dcterms:W3CDTF">2026-08-25T08:07:40Z</dcterms:created>
  <dcterms:modified xsi:type="dcterms:W3CDTF">2026-08-25T08:13:58Z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2026-08-25T00:00:00Z</vt:filetime>
  </property>
  <property fmtid="{D5CDD505-2E9C-101B-9397-08002B2CF9AE}" pid="6" name="Producer">
    <vt:lpwstr>Microsoft® PowerPoint® 2021</vt:lpwstr>
  </property>
</Properties>
</file>